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97D8-59F9-4E65-B3A5-547BB7CAB70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9838-E92B-40F4-9CF0-1056DC7F3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5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919838-E92B-40F4-9CF0-1056DC7F3E6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762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7952"/>
            <a:ext cx="12191695" cy="6858000"/>
          </a:xfrm>
          <a:prstGeom prst="rect">
            <a:avLst/>
          </a:prstGeom>
          <a:solidFill>
            <a:srgbClr val="F6F9FB"/>
          </a:solidFill>
          <a:ln w="10160"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64008" cy="6858000"/>
          </a:xfrm>
          <a:prstGeom prst="rect">
            <a:avLst/>
          </a:prstGeom>
          <a:solidFill>
            <a:srgbClr val="41BECD"/>
          </a:solidFill>
          <a:ln w="10160">
            <a:solidFill>
              <a:srgbClr val="4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143000" cy="699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27698"/>
            <a:ext cx="56692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0CA0AE"/>
                </a:solidFill>
                <a:latin typeface="Aptos"/>
              </a:rPr>
              <a:t>POWER BI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81410"/>
            <a:ext cx="7680960" cy="12661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 System</a:t>
            </a:r>
            <a:endParaRPr lang="en-US" sz="4000" dirty="0"/>
          </a:p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Optimization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17101"/>
            <a:ext cx="713232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Turning fragmented operational data into one decision-ready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276148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7824" y="3538728"/>
            <a:ext cx="475488" cy="475488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3690294"/>
            <a:ext cx="47548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382631"/>
            <a:ext cx="173736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4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3884325"/>
            <a:ext cx="1755648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Orders • products • customers • shipments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3337560"/>
            <a:ext cx="276148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59352" y="3538728"/>
            <a:ext cx="475488" cy="475488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59352" y="3690294"/>
            <a:ext cx="47548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2631"/>
            <a:ext cx="173736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4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84325"/>
            <a:ext cx="1755648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Inventory • delivery • suppliers • transport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76288" y="3337560"/>
            <a:ext cx="276148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40879" y="3538728"/>
            <a:ext cx="475488" cy="475488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79" y="3690294"/>
            <a:ext cx="47548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3382631"/>
            <a:ext cx="173736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4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3884325"/>
            <a:ext cx="1755648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KPI signals • bottlenecks • 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212080"/>
            <a:ext cx="8915400" cy="685800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06021"/>
            <a:ext cx="84124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POWER BI  |  POWER QUERY  |  DAX  |  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0231"/>
            <a:ext cx="402336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050" dirty="0"/>
          </a:p>
        </p:txBody>
      </p:sp>
      <p:sp>
        <p:nvSpPr>
          <p:cNvPr id="28" name="TextBox 27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>
                <a:solidFill>
                  <a:srgbClr val="607181"/>
                </a:solidFill>
                <a:latin typeface="Apto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18872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-88174"/>
            <a:ext cx="3255264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PROBLEM STATEMENT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56806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1353311"/>
            <a:ext cx="4709160" cy="4831951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609588"/>
            <a:ext cx="182880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41BECD"/>
                </a:solidFill>
                <a:latin typeface="Aptos"/>
              </a:rPr>
              <a:t>CORE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13174"/>
            <a:ext cx="3977639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Fragmented data leads to delayed decisions.</a:t>
            </a:r>
            <a:endParaRPr sz="23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3377499"/>
            <a:ext cx="3840480" cy="88024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Orders, inventory, delivery, suppliers, transportation and warehouses are </a:t>
            </a:r>
            <a:r>
              <a:rPr lang="en-IN" sz="1400" dirty="0" err="1">
                <a:solidFill>
                  <a:schemeClr val="bg1"/>
                </a:solidFill>
              </a:rPr>
              <a:t>analyzed</a:t>
            </a:r>
            <a:r>
              <a:rPr lang="en-IN" sz="1400" dirty="0">
                <a:solidFill>
                  <a:schemeClr val="bg1"/>
                </a:solidFill>
              </a:rPr>
              <a:t> separately, making it difficult to identify root causes, detect risks early, and take timely action.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8" y="4800600"/>
            <a:ext cx="3794760" cy="658368"/>
          </a:xfrm>
          <a:prstGeom prst="roundRect">
            <a:avLst/>
          </a:prstGeom>
          <a:solidFill>
            <a:srgbClr val="27425E"/>
          </a:solidFill>
          <a:ln w="10160">
            <a:solidFill>
              <a:srgbClr val="27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5000785"/>
            <a:ext cx="352044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GOAL  →  </a:t>
            </a:r>
            <a:r>
              <a:rPr lang="en-IN" sz="1200" b="1" dirty="0">
                <a:solidFill>
                  <a:schemeClr val="bg1"/>
                </a:solidFill>
              </a:rPr>
              <a:t>One connected view for smarter decisions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59552" y="1353312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Oval 15"/>
          <p:cNvSpPr/>
          <p:nvPr/>
        </p:nvSpPr>
        <p:spPr>
          <a:xfrm>
            <a:off x="5742432" y="1508760"/>
            <a:ext cx="420624" cy="420624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5742432" y="1602117"/>
            <a:ext cx="4206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446669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434959"/>
            <a:ext cx="3749039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Slow-moving and dead stock can hide inside total stock.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9552" y="2212848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Oval 20"/>
          <p:cNvSpPr/>
          <p:nvPr/>
        </p:nvSpPr>
        <p:spPr>
          <a:xfrm>
            <a:off x="5742432" y="2368296"/>
            <a:ext cx="420624" cy="420624"/>
          </a:xfrm>
          <a:prstGeom prst="ellipse">
            <a:avLst/>
          </a:prstGeom>
          <a:solidFill>
            <a:srgbClr val="D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742432" y="2461653"/>
            <a:ext cx="4206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06205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  <a:latin typeface="Aptos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294495"/>
            <a:ext cx="3749039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Regional and warehouse bottlenecks become visible too late.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9552" y="3072384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Oval 25"/>
          <p:cNvSpPr/>
          <p:nvPr/>
        </p:nvSpPr>
        <p:spPr>
          <a:xfrm>
            <a:off x="5742432" y="3227832"/>
            <a:ext cx="420624" cy="420624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5742432" y="3321189"/>
            <a:ext cx="4206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65741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  <a:latin typeface="Aptos"/>
              </a:rPr>
              <a:t>Suppliers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154031"/>
            <a:ext cx="3749039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Quality and reliability signals are difficult to compare.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931920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Oval 30"/>
          <p:cNvSpPr/>
          <p:nvPr/>
        </p:nvSpPr>
        <p:spPr>
          <a:xfrm>
            <a:off x="5742432" y="4087368"/>
            <a:ext cx="420624" cy="420624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5742432" y="4180725"/>
            <a:ext cx="4206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25277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  <a:latin typeface="Aptos"/>
              </a:rPr>
              <a:t>Transport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013567"/>
            <a:ext cx="3749039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Shipping-mode cost and delay trade-offs need comparison.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59552" y="4791456"/>
            <a:ext cx="59893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Oval 35"/>
          <p:cNvSpPr/>
          <p:nvPr/>
        </p:nvSpPr>
        <p:spPr>
          <a:xfrm>
            <a:off x="5742432" y="4946904"/>
            <a:ext cx="420624" cy="420624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5742432" y="5040261"/>
            <a:ext cx="4206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84813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  <a:latin typeface="Aptos"/>
              </a:rPr>
              <a:t>Warehouses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980825"/>
            <a:ext cx="3749039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Utilization varies widely across sites.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9552" y="5787169"/>
            <a:ext cx="438912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0CA0AE"/>
                </a:solidFill>
                <a:latin typeface="Aptos"/>
              </a:rPr>
              <a:t>THE DATA ALREADY SHOWS THE COST OF THESE GAPS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6073031"/>
            <a:ext cx="132588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13263F"/>
                </a:solidFill>
                <a:latin typeface="Aptos"/>
              </a:rPr>
              <a:t>76.7%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552" y="6300216"/>
            <a:ext cx="132588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607181"/>
                </a:solidFill>
                <a:latin typeface="Aptos"/>
              </a:rPr>
              <a:t>slow-moving stock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6073031"/>
            <a:ext cx="132588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13263F"/>
                </a:solidFill>
                <a:latin typeface="Aptos"/>
              </a:rPr>
              <a:t>17.1%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2592" y="6300216"/>
            <a:ext cx="132588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607181"/>
                </a:solidFill>
                <a:latin typeface="Aptos"/>
              </a:rPr>
              <a:t>on-time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6073031"/>
            <a:ext cx="132588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13263F"/>
                </a:solidFill>
                <a:latin typeface="Aptos"/>
              </a:rPr>
              <a:t>53.9%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6300216"/>
            <a:ext cx="132588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607181"/>
                </a:solidFill>
                <a:latin typeface="Aptos"/>
              </a:rPr>
              <a:t>supplier reliability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8672" y="6073031"/>
            <a:ext cx="1325880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13263F"/>
                </a:solidFill>
                <a:latin typeface="Aptos"/>
              </a:rPr>
              <a:t>15.9–84.2%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48672" y="6300216"/>
            <a:ext cx="132588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607181"/>
                </a:solidFill>
                <a:latin typeface="Aptos"/>
              </a:rPr>
              <a:t>warehouse utilization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26385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11018520" y="6528816"/>
            <a:ext cx="658368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02</a:t>
            </a:r>
            <a:r>
              <a:rPr sz="1050" b="1" dirty="0">
                <a:solidFill>
                  <a:srgbClr val="607181"/>
                </a:solidFill>
                <a:latin typeface="Aptos"/>
              </a:rPr>
              <a:t>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42053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-97553"/>
            <a:ext cx="292608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DATASET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332" y="34290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1361344"/>
            <a:ext cx="2148840" cy="1034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64008" cy="102412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731520" y="1577584"/>
            <a:ext cx="182880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151"/>
            <a:ext cx="18288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rows in the main fact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371600"/>
            <a:ext cx="2148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ectangle 13"/>
          <p:cNvSpPr/>
          <p:nvPr/>
        </p:nvSpPr>
        <p:spPr>
          <a:xfrm>
            <a:off x="2852928" y="1371600"/>
            <a:ext cx="64008" cy="1024128"/>
          </a:xfrm>
          <a:prstGeom prst="rect">
            <a:avLst/>
          </a:prstGeom>
          <a:solidFill>
            <a:srgbClr val="F0853D"/>
          </a:solidFill>
          <a:ln w="10160">
            <a:solidFill>
              <a:srgbClr val="F0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3035808" y="1577584"/>
            <a:ext cx="182880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1828151"/>
            <a:ext cx="18288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columns in the fact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371600"/>
            <a:ext cx="21488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ectangle 17"/>
          <p:cNvSpPr/>
          <p:nvPr/>
        </p:nvSpPr>
        <p:spPr>
          <a:xfrm>
            <a:off x="5157216" y="1371600"/>
            <a:ext cx="64008" cy="1024128"/>
          </a:xfrm>
          <a:prstGeom prst="rect">
            <a:avLst/>
          </a:prstGeom>
          <a:solidFill>
            <a:srgbClr val="6F5BAE"/>
          </a:solidFill>
          <a:ln w="10160">
            <a:solidFill>
              <a:srgbClr val="6F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5340096" y="1577584"/>
            <a:ext cx="182880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118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935873"/>
            <a:ext cx="18288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supplier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651760"/>
            <a:ext cx="5074920" cy="3264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804672" y="2920526"/>
            <a:ext cx="18288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0CA0AE"/>
                </a:solidFill>
                <a:latin typeface="Aptos"/>
              </a:rPr>
              <a:t>DATA DOMAINS</a:t>
            </a:r>
          </a:p>
        </p:txBody>
      </p:sp>
      <p:sp>
        <p:nvSpPr>
          <p:cNvPr id="27" name="Oval 26"/>
          <p:cNvSpPr/>
          <p:nvPr/>
        </p:nvSpPr>
        <p:spPr>
          <a:xfrm>
            <a:off x="804672" y="3319272"/>
            <a:ext cx="329184" cy="329184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TextBox 27"/>
          <p:cNvSpPr txBox="1"/>
          <p:nvPr/>
        </p:nvSpPr>
        <p:spPr>
          <a:xfrm>
            <a:off x="804672" y="3389992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3300002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3500278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Order ID • Sales • Quantity • Status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3319272"/>
            <a:ext cx="329184" cy="329184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2" name="TextBox 31"/>
          <p:cNvSpPr txBox="1"/>
          <p:nvPr/>
        </p:nvSpPr>
        <p:spPr>
          <a:xfrm>
            <a:off x="3136391" y="3389992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3" y="3300002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3" y="3500278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Customer ID • Segment • City • Country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4087368"/>
            <a:ext cx="329184" cy="329184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6" name="TextBox 35"/>
          <p:cNvSpPr txBox="1"/>
          <p:nvPr/>
        </p:nvSpPr>
        <p:spPr>
          <a:xfrm>
            <a:off x="804672" y="4158088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4068098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Products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4268374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Product • Category • Price • Department</a:t>
            </a:r>
          </a:p>
        </p:txBody>
      </p:sp>
      <p:sp>
        <p:nvSpPr>
          <p:cNvPr id="39" name="Oval 38"/>
          <p:cNvSpPr/>
          <p:nvPr/>
        </p:nvSpPr>
        <p:spPr>
          <a:xfrm>
            <a:off x="3136391" y="4087368"/>
            <a:ext cx="329184" cy="329184"/>
          </a:xfrm>
          <a:prstGeom prst="ellipse">
            <a:avLst/>
          </a:prstGeom>
          <a:solidFill>
            <a:srgbClr val="D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0" name="TextBox 39"/>
          <p:cNvSpPr txBox="1"/>
          <p:nvPr/>
        </p:nvSpPr>
        <p:spPr>
          <a:xfrm>
            <a:off x="3136391" y="4158088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5303" y="4068098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Shipping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303" y="4268374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Mode • Scheduled days • Real days • Delay</a:t>
            </a:r>
          </a:p>
        </p:txBody>
      </p:sp>
      <p:sp>
        <p:nvSpPr>
          <p:cNvPr id="43" name="Oval 42"/>
          <p:cNvSpPr/>
          <p:nvPr/>
        </p:nvSpPr>
        <p:spPr>
          <a:xfrm>
            <a:off x="804672" y="4855464"/>
            <a:ext cx="329184" cy="329184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4" name="TextBox 43"/>
          <p:cNvSpPr txBox="1"/>
          <p:nvPr/>
        </p:nvSpPr>
        <p:spPr>
          <a:xfrm>
            <a:off x="804672" y="4926184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584" y="4836194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3584" y="5036470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Stock • Safety stock • Reorder level • Value</a:t>
            </a:r>
          </a:p>
        </p:txBody>
      </p:sp>
      <p:sp>
        <p:nvSpPr>
          <p:cNvPr id="47" name="Oval 46"/>
          <p:cNvSpPr/>
          <p:nvPr/>
        </p:nvSpPr>
        <p:spPr>
          <a:xfrm>
            <a:off x="3136391" y="4855464"/>
            <a:ext cx="329184" cy="329184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8" name="TextBox 47"/>
          <p:cNvSpPr txBox="1"/>
          <p:nvPr/>
        </p:nvSpPr>
        <p:spPr>
          <a:xfrm>
            <a:off x="3136391" y="4926184"/>
            <a:ext cx="329184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303" y="4836194"/>
            <a:ext cx="15544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Suppliers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75303" y="5036470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Lead time • Quality score • Reliability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91200" y="2651759"/>
            <a:ext cx="5772912" cy="326463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2" name="TextBox 51"/>
          <p:cNvSpPr txBox="1"/>
          <p:nvPr/>
        </p:nvSpPr>
        <p:spPr>
          <a:xfrm>
            <a:off x="6126480" y="2920526"/>
            <a:ext cx="22860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0CA0AE"/>
                </a:solidFill>
                <a:latin typeface="Aptos"/>
              </a:rPr>
              <a:t>WHY THESE FIELDS MATTER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53912" y="3280264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3272570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Sales &amp; Quantity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72570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measure demand and revenue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3912" y="3673456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3665762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Order / Delivery Status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665762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measure fulfillment and delay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53912" y="4066648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088" y="4058954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Shipping Mode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058954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compare cost and service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3912" y="4459840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4452146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Warehouse &amp; Inventory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452146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measure capacity and stock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53912" y="4853032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4845338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Safety Stock / Reorder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4845338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support replenishment logic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3912" y="5246224"/>
            <a:ext cx="18288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8" y="5238530"/>
            <a:ext cx="1874519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 dirty="0">
                <a:solidFill>
                  <a:srgbClr val="13263F"/>
                </a:solidFill>
                <a:latin typeface="Aptos"/>
              </a:rPr>
              <a:t>Dates &amp; Geography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238530"/>
            <a:ext cx="28803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607181"/>
                </a:solidFill>
                <a:latin typeface="Aptos"/>
              </a:rPr>
              <a:t>enable trend and regional analysis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526385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74" name="TextBox 73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>
                <a:solidFill>
                  <a:srgbClr val="607181"/>
                </a:solidFill>
                <a:latin typeface="Apto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12067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-97553"/>
            <a:ext cx="281940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DATA MODEL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04" y="28982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45806" y="925084"/>
            <a:ext cx="7709474" cy="54482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11312" y="1050017"/>
            <a:ext cx="3337560" cy="53324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1466126"/>
            <a:ext cx="269748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0CA0AE"/>
                </a:solidFill>
                <a:latin typeface="Aptos"/>
              </a:rPr>
              <a:t>HOW TO READ THE MODEL</a:t>
            </a:r>
          </a:p>
        </p:txBody>
      </p:sp>
      <p:sp>
        <p:nvSpPr>
          <p:cNvPr id="15" name="Oval 14"/>
          <p:cNvSpPr/>
          <p:nvPr/>
        </p:nvSpPr>
        <p:spPr>
          <a:xfrm>
            <a:off x="8485632" y="1965960"/>
            <a:ext cx="393192" cy="393192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8485632" y="2060989"/>
            <a:ext cx="39319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40445"/>
            <a:ext cx="20116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Fact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35803"/>
            <a:ext cx="2011680" cy="66479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Orders / inventory / shipment measures live here.</a:t>
            </a:r>
          </a:p>
        </p:txBody>
      </p:sp>
      <p:sp>
        <p:nvSpPr>
          <p:cNvPr id="19" name="Oval 18"/>
          <p:cNvSpPr/>
          <p:nvPr/>
        </p:nvSpPr>
        <p:spPr>
          <a:xfrm>
            <a:off x="8485632" y="2834639"/>
            <a:ext cx="393192" cy="393192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8485632" y="2929668"/>
            <a:ext cx="39319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809124"/>
            <a:ext cx="20116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051998"/>
            <a:ext cx="2057400" cy="66479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Product, customer, location, date, supplier, warehouse, etc.</a:t>
            </a:r>
          </a:p>
        </p:txBody>
      </p:sp>
      <p:sp>
        <p:nvSpPr>
          <p:cNvPr id="23" name="Oval 22"/>
          <p:cNvSpPr/>
          <p:nvPr/>
        </p:nvSpPr>
        <p:spPr>
          <a:xfrm>
            <a:off x="8485632" y="3703320"/>
            <a:ext cx="393192" cy="393192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8485632" y="3798349"/>
            <a:ext cx="39319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677805"/>
            <a:ext cx="20116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876897"/>
            <a:ext cx="2011680" cy="66479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Dimensions filter the fact data for consistent slicing.</a:t>
            </a:r>
          </a:p>
        </p:txBody>
      </p:sp>
      <p:sp>
        <p:nvSpPr>
          <p:cNvPr id="27" name="Oval 26"/>
          <p:cNvSpPr/>
          <p:nvPr/>
        </p:nvSpPr>
        <p:spPr>
          <a:xfrm>
            <a:off x="8485632" y="4572000"/>
            <a:ext cx="393192" cy="393192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8485632" y="4678828"/>
            <a:ext cx="39319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546485"/>
            <a:ext cx="201168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DAX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786235"/>
            <a:ext cx="20574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Measures convert raw fields into business KPIs.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85632" y="5486400"/>
            <a:ext cx="2697480" cy="502920"/>
          </a:xfrm>
          <a:prstGeom prst="roundRect">
            <a:avLst/>
          </a:prstGeom>
          <a:solidFill>
            <a:srgbClr val="DFF5F8"/>
          </a:solidFill>
          <a:ln w="10160">
            <a:solidFill>
              <a:srgbClr val="D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TextBox 31"/>
          <p:cNvSpPr txBox="1"/>
          <p:nvPr/>
        </p:nvSpPr>
        <p:spPr>
          <a:xfrm>
            <a:off x="8577072" y="5525673"/>
            <a:ext cx="251460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13263F"/>
                </a:solidFill>
                <a:latin typeface="Aptos"/>
              </a:rPr>
              <a:t>Result → cleaner relationships + reliable KPI roll-ups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26385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04 / 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A389FA-3B18-ED08-3F4D-5227F3AB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69" y="1170039"/>
            <a:ext cx="6747147" cy="5033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34995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-97553"/>
            <a:ext cx="3959352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DASHBOARD ARCHITECTURE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619" y="20451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" y="1508141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Oval 9"/>
          <p:cNvSpPr/>
          <p:nvPr/>
        </p:nvSpPr>
        <p:spPr>
          <a:xfrm>
            <a:off x="1097280" y="1755648"/>
            <a:ext cx="502920" cy="502920"/>
          </a:xfrm>
          <a:prstGeom prst="ellipse">
            <a:avLst/>
          </a:prstGeom>
          <a:solidFill>
            <a:srgbClr val="0C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1097280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370213"/>
            <a:ext cx="1408176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3263F"/>
                </a:solidFill>
                <a:latin typeface="Aptos"/>
              </a:rPr>
              <a:t>RAW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68256"/>
            <a:ext cx="1335024" cy="88024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Orders  Products Customers  Shipments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234725"/>
            <a:ext cx="256032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CA0A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1536192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Oval 15"/>
          <p:cNvSpPr/>
          <p:nvPr/>
        </p:nvSpPr>
        <p:spPr>
          <a:xfrm>
            <a:off x="2980944" y="1755648"/>
            <a:ext cx="502920" cy="502920"/>
          </a:xfrm>
          <a:prstGeom prst="ellipse">
            <a:avLst/>
          </a:prstGeom>
          <a:solidFill>
            <a:srgbClr val="F08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2980944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330291"/>
            <a:ext cx="1408176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13263F"/>
                </a:solidFill>
                <a:latin typeface="Aptos"/>
              </a:rPr>
              <a:t>  POSTGRE SQL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96896" y="2568256"/>
            <a:ext cx="1335024" cy="880241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dirty="0">
                <a:solidFill>
                  <a:srgbClr val="607181"/>
                </a:solidFill>
                <a:latin typeface="Aptos"/>
              </a:rPr>
              <a:t>Structured source for required analytics</a:t>
            </a:r>
            <a:endParaRPr sz="1400" b="0" dirty="0">
              <a:solidFill>
                <a:srgbClr val="60718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96512" y="2234725"/>
            <a:ext cx="256032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0CA0AE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1536192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Oval 21"/>
          <p:cNvSpPr/>
          <p:nvPr/>
        </p:nvSpPr>
        <p:spPr>
          <a:xfrm>
            <a:off x="4864608" y="1755648"/>
            <a:ext cx="502920" cy="502920"/>
          </a:xfrm>
          <a:prstGeom prst="ellipse">
            <a:avLst/>
          </a:prstGeom>
          <a:solidFill>
            <a:srgbClr val="6F5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4864608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2455" y="2341236"/>
            <a:ext cx="1316738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13263F"/>
                </a:solidFill>
                <a:latin typeface="Aptos"/>
              </a:rPr>
              <a:t>POWER QUERY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0560" y="2675978"/>
            <a:ext cx="1335024" cy="66479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dirty="0">
                <a:solidFill>
                  <a:srgbClr val="607181"/>
                </a:solidFill>
                <a:latin typeface="Aptos"/>
              </a:rPr>
              <a:t>Clean</a:t>
            </a:r>
          </a:p>
          <a:p>
            <a:pPr algn="ctr"/>
            <a:r>
              <a:rPr lang="en-IN" sz="1400" b="0" dirty="0">
                <a:solidFill>
                  <a:srgbClr val="607181"/>
                </a:solidFill>
                <a:latin typeface="Aptos"/>
              </a:rPr>
              <a:t>Transform</a:t>
            </a:r>
          </a:p>
          <a:p>
            <a:pPr algn="ctr"/>
            <a:r>
              <a:rPr lang="en-IN" sz="1400" dirty="0">
                <a:solidFill>
                  <a:srgbClr val="607181"/>
                </a:solidFill>
                <a:latin typeface="Aptos"/>
              </a:rPr>
              <a:t>Standardize</a:t>
            </a:r>
            <a:endParaRPr sz="1400" b="0" dirty="0">
              <a:solidFill>
                <a:srgbClr val="607181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80176" y="2234725"/>
            <a:ext cx="256032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0CA0AE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536192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Oval 27"/>
          <p:cNvSpPr/>
          <p:nvPr/>
        </p:nvSpPr>
        <p:spPr>
          <a:xfrm>
            <a:off x="6748272" y="1755648"/>
            <a:ext cx="502920" cy="502920"/>
          </a:xfrm>
          <a:prstGeom prst="ellipse">
            <a:avLst/>
          </a:prstGeom>
          <a:solidFill>
            <a:srgbClr val="2EA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6748272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370213"/>
            <a:ext cx="1408176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3263F"/>
                </a:solidFill>
                <a:latin typeface="Aptos"/>
              </a:rPr>
              <a:t>STAR 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675978"/>
            <a:ext cx="1335024" cy="66479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Fact </a:t>
            </a:r>
            <a:r>
              <a:rPr lang="en-IN" sz="1400" b="0" dirty="0">
                <a:solidFill>
                  <a:srgbClr val="607181"/>
                </a:solidFill>
                <a:latin typeface="Aptos"/>
              </a:rPr>
              <a:t>+</a:t>
            </a:r>
            <a:r>
              <a:rPr sz="1400" b="0" dirty="0">
                <a:solidFill>
                  <a:srgbClr val="607181"/>
                </a:solidFill>
                <a:latin typeface="Aptos"/>
              </a:rPr>
              <a:t> dimensions + relationships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234725"/>
            <a:ext cx="256032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0CA0AE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1536192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Oval 33"/>
          <p:cNvSpPr/>
          <p:nvPr/>
        </p:nvSpPr>
        <p:spPr>
          <a:xfrm>
            <a:off x="8631936" y="1755648"/>
            <a:ext cx="502920" cy="502920"/>
          </a:xfrm>
          <a:prstGeom prst="ellipse">
            <a:avLst/>
          </a:prstGeom>
          <a:solidFill>
            <a:srgbClr val="D7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TextBox 34"/>
          <p:cNvSpPr txBox="1"/>
          <p:nvPr/>
        </p:nvSpPr>
        <p:spPr>
          <a:xfrm>
            <a:off x="8631936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2370213"/>
            <a:ext cx="1408176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3263F"/>
                </a:solidFill>
                <a:latin typeface="Aptos"/>
              </a:rPr>
              <a:t>DAX + KPIs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675978"/>
            <a:ext cx="1335024" cy="66479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Measures </a:t>
            </a:r>
            <a:endParaRPr lang="en-IN" sz="1400" b="0" dirty="0">
              <a:solidFill>
                <a:srgbClr val="607181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 </a:t>
            </a:r>
            <a:r>
              <a:rPr lang="en-IN" sz="1400" dirty="0">
                <a:solidFill>
                  <a:srgbClr val="607181"/>
                </a:solidFill>
                <a:latin typeface="Aptos"/>
              </a:rPr>
              <a:t>R</a:t>
            </a:r>
            <a:r>
              <a:rPr sz="1400" b="0" dirty="0" err="1">
                <a:solidFill>
                  <a:srgbClr val="607181"/>
                </a:solidFill>
                <a:latin typeface="Aptos"/>
              </a:rPr>
              <a:t>atios</a:t>
            </a:r>
            <a:r>
              <a:rPr sz="1400" b="0" dirty="0">
                <a:solidFill>
                  <a:srgbClr val="607181"/>
                </a:solidFill>
                <a:latin typeface="Aptos"/>
              </a:rPr>
              <a:t> </a:t>
            </a:r>
            <a:endParaRPr lang="en-IN" sz="1400" b="0" dirty="0">
              <a:solidFill>
                <a:srgbClr val="607181"/>
              </a:solidFill>
              <a:latin typeface="Aptos"/>
            </a:endParaRPr>
          </a:p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 business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47504" y="2234725"/>
            <a:ext cx="256032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0CA0AE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85248" y="1536192"/>
            <a:ext cx="1627632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Oval 39"/>
          <p:cNvSpPr/>
          <p:nvPr/>
        </p:nvSpPr>
        <p:spPr>
          <a:xfrm>
            <a:off x="10515600" y="1755648"/>
            <a:ext cx="502920" cy="502920"/>
          </a:xfrm>
          <a:prstGeom prst="ellipse">
            <a:avLst/>
          </a:prstGeom>
          <a:solidFill>
            <a:srgbClr val="13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10515600" y="1905541"/>
            <a:ext cx="502920" cy="203133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4976" y="2370213"/>
            <a:ext cx="1408176" cy="23391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3263F"/>
                </a:solidFill>
                <a:latin typeface="Aptos"/>
              </a:rPr>
              <a:t>POWER 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2675978"/>
            <a:ext cx="1335024" cy="664797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0" dirty="0">
                <a:solidFill>
                  <a:srgbClr val="607181"/>
                </a:solidFill>
                <a:latin typeface="Aptos"/>
              </a:rPr>
              <a:t>Interactive views </a:t>
            </a:r>
            <a:r>
              <a:rPr lang="en-IN" sz="1400" dirty="0">
                <a:solidFill>
                  <a:srgbClr val="607181"/>
                </a:solidFill>
                <a:latin typeface="Aptos"/>
              </a:rPr>
              <a:t>F</a:t>
            </a:r>
            <a:r>
              <a:rPr sz="1400" b="0" dirty="0" err="1">
                <a:solidFill>
                  <a:srgbClr val="607181"/>
                </a:solidFill>
                <a:latin typeface="Aptos"/>
              </a:rPr>
              <a:t>ilters</a:t>
            </a:r>
            <a:r>
              <a:rPr sz="1400" b="0" dirty="0">
                <a:solidFill>
                  <a:srgbClr val="607181"/>
                </a:solidFill>
                <a:latin typeface="Aptos"/>
              </a:rPr>
              <a:t>  </a:t>
            </a:r>
            <a:endParaRPr lang="en-IN" sz="1400" b="0" dirty="0">
              <a:solidFill>
                <a:srgbClr val="607181"/>
              </a:solidFill>
              <a:latin typeface="Aptos"/>
            </a:endParaRPr>
          </a:p>
          <a:p>
            <a:pPr algn="ctr"/>
            <a:r>
              <a:rPr lang="en-IN" sz="1400" dirty="0">
                <a:solidFill>
                  <a:srgbClr val="607181"/>
                </a:solidFill>
                <a:latin typeface="Aptos"/>
              </a:rPr>
              <a:t>D</a:t>
            </a:r>
            <a:r>
              <a:rPr sz="1400" b="0" dirty="0">
                <a:solidFill>
                  <a:srgbClr val="607181"/>
                </a:solidFill>
                <a:latin typeface="Aptos"/>
              </a:rPr>
              <a:t>rill-down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3868156"/>
            <a:ext cx="2652350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0CA0AE"/>
                </a:solidFill>
                <a:latin typeface="Aptos"/>
              </a:rPr>
              <a:t>ANALYTICAL MODULES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43159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Oval 45"/>
          <p:cNvSpPr/>
          <p:nvPr/>
        </p:nvSpPr>
        <p:spPr>
          <a:xfrm>
            <a:off x="786384" y="4453128"/>
            <a:ext cx="384048" cy="384048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TextBox 46"/>
          <p:cNvSpPr txBox="1"/>
          <p:nvPr/>
        </p:nvSpPr>
        <p:spPr>
          <a:xfrm>
            <a:off x="786384" y="45435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8448" y="43169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Executive</a:t>
            </a:r>
            <a:endParaRPr sz="12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33472" y="44256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KPI pulse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25112" y="43159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1" name="Oval 50"/>
          <p:cNvSpPr/>
          <p:nvPr/>
        </p:nvSpPr>
        <p:spPr>
          <a:xfrm>
            <a:off x="4489703" y="4453128"/>
            <a:ext cx="384048" cy="384048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2" name="TextBox 51"/>
          <p:cNvSpPr txBox="1"/>
          <p:nvPr/>
        </p:nvSpPr>
        <p:spPr>
          <a:xfrm>
            <a:off x="4489703" y="45435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01768" y="43169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Inventory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6792" y="44256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Stock health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1" y="43159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Oval 55"/>
          <p:cNvSpPr/>
          <p:nvPr/>
        </p:nvSpPr>
        <p:spPr>
          <a:xfrm>
            <a:off x="8193023" y="4453128"/>
            <a:ext cx="384048" cy="384048"/>
          </a:xfrm>
          <a:prstGeom prst="ellipse">
            <a:avLst/>
          </a:prstGeom>
          <a:solidFill>
            <a:srgbClr val="D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TextBox 56"/>
          <p:cNvSpPr txBox="1"/>
          <p:nvPr/>
        </p:nvSpPr>
        <p:spPr>
          <a:xfrm>
            <a:off x="8193023" y="45435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43169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Delivery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0112" y="44256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Service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" y="52303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1" name="Oval 60"/>
          <p:cNvSpPr/>
          <p:nvPr/>
        </p:nvSpPr>
        <p:spPr>
          <a:xfrm>
            <a:off x="786384" y="5367528"/>
            <a:ext cx="384048" cy="384048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2" name="TextBox 61"/>
          <p:cNvSpPr txBox="1"/>
          <p:nvPr/>
        </p:nvSpPr>
        <p:spPr>
          <a:xfrm>
            <a:off x="786384" y="54579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98448" y="52313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Supplier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33472" y="53400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Risk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25112" y="52303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6" name="Oval 65"/>
          <p:cNvSpPr/>
          <p:nvPr/>
        </p:nvSpPr>
        <p:spPr>
          <a:xfrm>
            <a:off x="4489703" y="5367528"/>
            <a:ext cx="384048" cy="384048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7" name="TextBox 66"/>
          <p:cNvSpPr txBox="1"/>
          <p:nvPr/>
        </p:nvSpPr>
        <p:spPr>
          <a:xfrm>
            <a:off x="4489703" y="54579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01768" y="52313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Transportation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36792" y="53400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Cost + delay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28431" y="5230368"/>
            <a:ext cx="3337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1" name="Oval 70"/>
          <p:cNvSpPr/>
          <p:nvPr/>
        </p:nvSpPr>
        <p:spPr>
          <a:xfrm>
            <a:off x="8193023" y="5367528"/>
            <a:ext cx="384048" cy="384048"/>
          </a:xfrm>
          <a:prstGeom prst="ellipse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2" name="TextBox 71"/>
          <p:cNvSpPr txBox="1"/>
          <p:nvPr/>
        </p:nvSpPr>
        <p:spPr>
          <a:xfrm>
            <a:off x="8193023" y="5457985"/>
            <a:ext cx="384048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5231392"/>
            <a:ext cx="1417320" cy="4185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IN" sz="1200" b="1" dirty="0">
              <a:solidFill>
                <a:srgbClr val="13263F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13263F"/>
                </a:solidFill>
                <a:latin typeface="Aptos"/>
              </a:rPr>
              <a:t>Warehouse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40112" y="5340096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200" b="0">
                <a:solidFill>
                  <a:srgbClr val="607181"/>
                </a:solidFill>
                <a:latin typeface="Aptos"/>
              </a:rPr>
              <a:t>Capacity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5714017"/>
            <a:ext cx="29718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 INSIGHT →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78" name="TextBox 77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95970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-97554"/>
            <a:ext cx="3621024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</a:rPr>
              <a:t>INVENTORY</a:t>
            </a:r>
            <a:r>
              <a:rPr sz="2000" b="1" dirty="0">
                <a:solidFill>
                  <a:schemeClr val="bg1"/>
                </a:solidFill>
                <a:latin typeface="Aptos"/>
              </a:rPr>
              <a:t> ANALYTICS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883938"/>
            <a:ext cx="6528816" cy="504235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ventory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53" y="1040875"/>
            <a:ext cx="5557413" cy="35951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" y="4812766"/>
            <a:ext cx="6129724" cy="862750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440" y="4825330"/>
            <a:ext cx="5720025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Business Idea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Optimize inventory by reducing slow-moving and dead stock while maintaining sufficient stock levels.</a:t>
            </a:r>
          </a:p>
          <a:p>
            <a:r>
              <a:rPr lang="en-IN" sz="1200" b="1" i="1" dirty="0">
                <a:solidFill>
                  <a:schemeClr val="bg1"/>
                </a:solidFill>
              </a:rPr>
              <a:t>Business Insight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76.7% slow-moving stock and low inventory turnover indicate excess working capital is tied up in inventory. </a:t>
            </a:r>
            <a:endParaRPr lang="en-IN"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0" y="1353312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7589520" y="1353312"/>
            <a:ext cx="64008" cy="84124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7772400" y="1543907"/>
            <a:ext cx="3639312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b="1" dirty="0">
                <a:solidFill>
                  <a:srgbClr val="13263F"/>
                </a:solidFill>
                <a:latin typeface="Aptos"/>
              </a:rPr>
              <a:t>76.7</a:t>
            </a:r>
            <a:r>
              <a:rPr sz="1600" b="1" dirty="0">
                <a:solidFill>
                  <a:srgbClr val="13263F"/>
                </a:solidFill>
                <a:latin typeface="Aptos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17585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slow-moving stock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40864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7589520" y="2340864"/>
            <a:ext cx="64008" cy="841248"/>
          </a:xfrm>
          <a:prstGeom prst="rect">
            <a:avLst/>
          </a:prstGeom>
          <a:solidFill>
            <a:srgbClr val="D75757"/>
          </a:solidFill>
          <a:ln w="10160">
            <a:solidFill>
              <a:srgbClr val="D7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7772400" y="2546848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~1M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05137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dead-stock units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28416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7589520" y="3328416"/>
            <a:ext cx="64008" cy="841248"/>
          </a:xfrm>
          <a:prstGeom prst="rect">
            <a:avLst/>
          </a:prstGeom>
          <a:solidFill>
            <a:srgbClr val="F0853D"/>
          </a:solidFill>
          <a:ln w="10160">
            <a:solidFill>
              <a:srgbClr val="F0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7772400" y="3534400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0.47x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92689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inventory turnover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562856"/>
            <a:ext cx="3959352" cy="1426464"/>
          </a:xfrm>
          <a:prstGeom prst="roundRect">
            <a:avLst/>
          </a:prstGeom>
          <a:solidFill>
            <a:srgbClr val="EDF3F7"/>
          </a:solidFill>
          <a:ln w="10160">
            <a:solidFill>
              <a:srgbClr val="D5E0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7845551" y="4619637"/>
            <a:ext cx="2792951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0CA0AE"/>
                </a:solidFill>
                <a:latin typeface="Aptos"/>
              </a:rPr>
              <a:t>WHAT THIS </a:t>
            </a:r>
            <a:r>
              <a:rPr lang="en-IN" sz="1400" b="1" dirty="0">
                <a:solidFill>
                  <a:srgbClr val="0CA0AE"/>
                </a:solidFill>
                <a:latin typeface="Aptos"/>
              </a:rPr>
              <a:t>REPORT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488289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Inventory turnover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88289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Category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15721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Slow / fast movers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1" y="5068473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Dead stock identification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4884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342793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Warehouse-wise inventory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18134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-97554"/>
            <a:ext cx="3602736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</a:rPr>
              <a:t>DELIVERY</a:t>
            </a:r>
            <a:r>
              <a:rPr sz="2000" b="1" dirty="0">
                <a:solidFill>
                  <a:schemeClr val="bg1"/>
                </a:solidFill>
                <a:latin typeface="Aptos"/>
              </a:rPr>
              <a:t> ANALYTICS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6829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1018014"/>
            <a:ext cx="6812280" cy="519047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elivery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1219201"/>
            <a:ext cx="6044184" cy="378541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" y="5138928"/>
            <a:ext cx="6382512" cy="812228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66511" y="5142174"/>
            <a:ext cx="5783434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Business Idea:</a:t>
            </a:r>
            <a:r>
              <a:rPr lang="en-IN" sz="1200" i="1" dirty="0">
                <a:solidFill>
                  <a:schemeClr val="bg1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Improve customer service by identifying regions, warehouses and shipping patterns responsible for delivery delays.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b="1" i="1" dirty="0">
                <a:solidFill>
                  <a:schemeClr val="bg1"/>
                </a:solidFill>
              </a:rPr>
              <a:t>Business Insight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With only 17.1% on-time delivery, the business should prioritize high-delay areas and improve </a:t>
            </a:r>
            <a:r>
              <a:rPr lang="en-IN" sz="1200" dirty="0" err="1">
                <a:solidFill>
                  <a:schemeClr val="bg1"/>
                </a:solidFill>
              </a:rPr>
              <a:t>fulfillment</a:t>
            </a:r>
            <a:r>
              <a:rPr lang="en-IN" sz="1200" dirty="0">
                <a:solidFill>
                  <a:schemeClr val="bg1"/>
                </a:solidFill>
              </a:rPr>
              <a:t> processes.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0" y="1353312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7589520" y="1353312"/>
            <a:ext cx="64008" cy="841248"/>
          </a:xfrm>
          <a:prstGeom prst="rect">
            <a:avLst/>
          </a:prstGeom>
          <a:solidFill>
            <a:srgbClr val="D75757"/>
          </a:solidFill>
          <a:ln w="10160">
            <a:solidFill>
              <a:srgbClr val="D7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7772400" y="1543907"/>
            <a:ext cx="3639312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b="1" dirty="0">
                <a:solidFill>
                  <a:srgbClr val="13263F"/>
                </a:solidFill>
                <a:latin typeface="Aptos"/>
              </a:rPr>
              <a:t>17.1%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17585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on-time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40864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7589520" y="2340864"/>
            <a:ext cx="64008" cy="841248"/>
          </a:xfrm>
          <a:prstGeom prst="rect">
            <a:avLst/>
          </a:prstGeom>
          <a:solidFill>
            <a:srgbClr val="F0853D"/>
          </a:solidFill>
          <a:ln w="10160">
            <a:solidFill>
              <a:srgbClr val="F0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7772400" y="2546848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51.2%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05137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late-delivery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28416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7589520" y="3328416"/>
            <a:ext cx="64008" cy="84124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7772400" y="3534400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92689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total 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425696"/>
            <a:ext cx="3959352" cy="1426464"/>
          </a:xfrm>
          <a:prstGeom prst="roundRect">
            <a:avLst/>
          </a:prstGeom>
          <a:solidFill>
            <a:srgbClr val="EDF3F7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7863840" y="4525542"/>
            <a:ext cx="281399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0CA0AE"/>
                </a:solidFill>
                <a:latin typeface="Aptos"/>
              </a:rPr>
              <a:t>WHAT THIS </a:t>
            </a:r>
            <a:r>
              <a:rPr lang="en-IN" sz="1400" b="1" dirty="0">
                <a:solidFill>
                  <a:srgbClr val="0CA0AE"/>
                </a:solidFill>
                <a:latin typeface="Aptos"/>
              </a:rPr>
              <a:t>REPORT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4794153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On-time vs delayed deliveries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794153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Regional delay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15721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Lead-time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1" y="515721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Warehouse fulfillment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4884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1627632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Shipping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20810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-97554"/>
            <a:ext cx="3456432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</a:rPr>
              <a:t>SUPPLIER </a:t>
            </a:r>
            <a:r>
              <a:rPr sz="2000" b="1" dirty="0">
                <a:solidFill>
                  <a:schemeClr val="bg1"/>
                </a:solidFill>
                <a:latin typeface="Aptos"/>
              </a:rPr>
              <a:t> ANALYTICS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04" y="60739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055339"/>
            <a:ext cx="6812280" cy="52962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upplier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57" y="1353312"/>
            <a:ext cx="6217281" cy="35872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4157" y="5120639"/>
            <a:ext cx="6217282" cy="886871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180678"/>
            <a:ext cx="6017342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Business Idea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Build a reliable supplier base by balancing supplier quality, reliability and lead time.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b="1" i="1" dirty="0">
                <a:solidFill>
                  <a:schemeClr val="bg1"/>
                </a:solidFill>
              </a:rPr>
              <a:t>Business Insight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Average reliability is 53.9%, so suppliers should be ranked and monitored to reduce sourcing and disruption risks. 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0" y="1353312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7589520" y="1353312"/>
            <a:ext cx="64008" cy="841248"/>
          </a:xfrm>
          <a:prstGeom prst="rect">
            <a:avLst/>
          </a:prstGeom>
          <a:solidFill>
            <a:srgbClr val="6F5BAE"/>
          </a:solidFill>
          <a:ln w="10160">
            <a:solidFill>
              <a:srgbClr val="6F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/>
          <p:cNvSpPr txBox="1"/>
          <p:nvPr/>
        </p:nvSpPr>
        <p:spPr>
          <a:xfrm>
            <a:off x="7772400" y="1543908"/>
            <a:ext cx="3639312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b="1" dirty="0">
                <a:solidFill>
                  <a:srgbClr val="13263F"/>
                </a:solidFill>
                <a:latin typeface="Aptos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17586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suppliers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40864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7589520" y="2340864"/>
            <a:ext cx="64008" cy="84124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7772400" y="2531460"/>
            <a:ext cx="3639312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b="1" dirty="0">
                <a:solidFill>
                  <a:srgbClr val="13263F"/>
                </a:solidFill>
                <a:latin typeface="Aptos"/>
              </a:rPr>
              <a:t>75.71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05138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avg quality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28416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7589520" y="3328416"/>
            <a:ext cx="64008" cy="841248"/>
          </a:xfrm>
          <a:prstGeom prst="rect">
            <a:avLst/>
          </a:prstGeom>
          <a:solidFill>
            <a:srgbClr val="D75757"/>
          </a:solidFill>
          <a:ln w="10160">
            <a:solidFill>
              <a:srgbClr val="D7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7772400" y="3519012"/>
            <a:ext cx="3639312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b="1" dirty="0">
                <a:solidFill>
                  <a:srgbClr val="13263F"/>
                </a:solidFill>
                <a:latin typeface="Aptos"/>
              </a:rPr>
              <a:t>53.9</a:t>
            </a:r>
            <a:r>
              <a:rPr sz="1400" b="1" dirty="0">
                <a:solidFill>
                  <a:srgbClr val="13263F"/>
                </a:solidFill>
                <a:latin typeface="Aptos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92690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avg reliability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425696"/>
            <a:ext cx="3959352" cy="1426464"/>
          </a:xfrm>
          <a:prstGeom prst="roundRect">
            <a:avLst/>
          </a:prstGeom>
          <a:solidFill>
            <a:srgbClr val="EDF3F7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7863840" y="4554347"/>
            <a:ext cx="276483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0CA0AE"/>
                </a:solidFill>
                <a:latin typeface="Aptos"/>
              </a:rPr>
              <a:t>WHAT THIS </a:t>
            </a:r>
            <a:r>
              <a:rPr lang="en-IN" sz="1400" b="1" dirty="0">
                <a:solidFill>
                  <a:srgbClr val="0CA0AE"/>
                </a:solidFill>
                <a:latin typeface="Aptos"/>
              </a:rPr>
              <a:t>REPORT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488648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Reliability tiers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90020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794153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Quality score distribution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Supplier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517452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Lead-time 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48842"/>
            <a:ext cx="13716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512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>
                <a:solidFill>
                  <a:srgbClr val="23313F"/>
                </a:solidFill>
                <a:latin typeface="Aptos"/>
              </a:rPr>
              <a:t>Composite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3016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-97554"/>
            <a:ext cx="3995928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</a:rPr>
              <a:t>TRANSPORTATION</a:t>
            </a:r>
            <a:r>
              <a:rPr sz="2000" b="1" dirty="0">
                <a:solidFill>
                  <a:schemeClr val="bg1"/>
                </a:solidFill>
                <a:latin typeface="Aptos"/>
              </a:rPr>
              <a:t> ANALYTICS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04" y="58551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1040874"/>
            <a:ext cx="6812280" cy="51599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ransportation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7" y="1304563"/>
            <a:ext cx="6172790" cy="36235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" y="5060736"/>
            <a:ext cx="6382512" cy="865559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399" y="5106161"/>
            <a:ext cx="6016752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Business Idea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Select transportation modes based on the best balance of cost, delivery speed and service reliability.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b="1" i="1" dirty="0">
                <a:solidFill>
                  <a:schemeClr val="bg1"/>
                </a:solidFill>
              </a:rPr>
              <a:t>Business Insight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The high late-rate pattern and discount load show an opportunity to optimize shipping modes and reduce unnecessary transportation costs.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2032" y="5240202"/>
            <a:ext cx="4206240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endParaRPr sz="10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0" y="1353312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Rectangle 14"/>
          <p:cNvSpPr/>
          <p:nvPr/>
        </p:nvSpPr>
        <p:spPr>
          <a:xfrm>
            <a:off x="7589520" y="1353312"/>
            <a:ext cx="64008" cy="841248"/>
          </a:xfrm>
          <a:prstGeom prst="rect">
            <a:avLst/>
          </a:prstGeom>
          <a:solidFill>
            <a:srgbClr val="F0853D"/>
          </a:solidFill>
          <a:ln w="10160">
            <a:solidFill>
              <a:srgbClr val="F0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TextBox 15"/>
          <p:cNvSpPr txBox="1"/>
          <p:nvPr/>
        </p:nvSpPr>
        <p:spPr>
          <a:xfrm>
            <a:off x="7772400" y="1559297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$206K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17586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discount 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40864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Rectangle 18"/>
          <p:cNvSpPr/>
          <p:nvPr/>
        </p:nvSpPr>
        <p:spPr>
          <a:xfrm>
            <a:off x="7589520" y="2340864"/>
            <a:ext cx="64008" cy="84124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7772400" y="2546849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10.34%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05138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avg discount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28416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7589520" y="3328416"/>
            <a:ext cx="64008" cy="841248"/>
          </a:xfrm>
          <a:prstGeom prst="rect">
            <a:avLst/>
          </a:prstGeom>
          <a:solidFill>
            <a:srgbClr val="D75757"/>
          </a:solidFill>
          <a:ln w="10160">
            <a:solidFill>
              <a:srgbClr val="D7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TextBox 23"/>
          <p:cNvSpPr txBox="1"/>
          <p:nvPr/>
        </p:nvSpPr>
        <p:spPr>
          <a:xfrm>
            <a:off x="7772400" y="3534401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≈50%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92690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late-rate pattern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425696"/>
            <a:ext cx="3959352" cy="1426464"/>
          </a:xfrm>
          <a:prstGeom prst="roundRect">
            <a:avLst/>
          </a:prstGeom>
          <a:solidFill>
            <a:srgbClr val="EDF3F7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7863840" y="4536014"/>
            <a:ext cx="281399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0CA0AE"/>
                </a:solidFill>
                <a:latin typeface="Aptos"/>
              </a:rPr>
              <a:t>WHAT THIS </a:t>
            </a:r>
            <a:r>
              <a:rPr lang="en-IN" sz="1400" b="1" dirty="0">
                <a:solidFill>
                  <a:srgbClr val="0CA0AE"/>
                </a:solidFill>
                <a:latin typeface="Aptos"/>
              </a:rPr>
              <a:t>REPORT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0789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4794154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Discount by shipping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90789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88648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Late rate by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8221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Orders by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518221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Profit per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5653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342794"/>
            <a:ext cx="1627632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Regional / market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03613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-97554"/>
            <a:ext cx="365760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</a:rPr>
              <a:t>WAREHOUSE</a:t>
            </a:r>
            <a:r>
              <a:rPr sz="2000" b="1" dirty="0">
                <a:solidFill>
                  <a:schemeClr val="bg1"/>
                </a:solidFill>
                <a:latin typeface="Aptos"/>
              </a:rPr>
              <a:t> ANALYTICS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143" y="39649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1018013"/>
            <a:ext cx="6812280" cy="53336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rehouse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73" y="1304561"/>
            <a:ext cx="6190685" cy="36994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5" y="5235630"/>
            <a:ext cx="6382512" cy="851284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399" y="5235630"/>
            <a:ext cx="6117435" cy="75713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IN" sz="1200" b="1" i="1" dirty="0">
                <a:solidFill>
                  <a:schemeClr val="bg1"/>
                </a:solidFill>
              </a:rPr>
              <a:t>Business Idea: </a:t>
            </a:r>
            <a:r>
              <a:rPr lang="en-IN" sz="1200" dirty="0">
                <a:solidFill>
                  <a:schemeClr val="bg1"/>
                </a:solidFill>
              </a:rPr>
              <a:t>Balance warehouse capacity and throughput by shifting inventory and orders away from overloaded locations.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b="1" i="1" dirty="0">
                <a:solidFill>
                  <a:schemeClr val="bg1"/>
                </a:solidFill>
              </a:rPr>
              <a:t>Business Insight</a:t>
            </a:r>
            <a:r>
              <a:rPr lang="en-IN" sz="1200" b="1" dirty="0">
                <a:solidFill>
                  <a:schemeClr val="bg1"/>
                </a:solidFill>
              </a:rPr>
              <a:t>:</a:t>
            </a:r>
            <a:r>
              <a:rPr lang="en-IN" sz="1200" dirty="0">
                <a:solidFill>
                  <a:schemeClr val="bg1"/>
                </a:solidFill>
              </a:rPr>
              <a:t> Utilization ranges from 15.9% to 84.2%, indicating uneven capacity usage and an opportunity for better warehouse allocation. 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2032" y="5240202"/>
            <a:ext cx="4206240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0" dirty="0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353312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Rectangle 14"/>
          <p:cNvSpPr/>
          <p:nvPr/>
        </p:nvSpPr>
        <p:spPr>
          <a:xfrm>
            <a:off x="7589520" y="1353312"/>
            <a:ext cx="64008" cy="841248"/>
          </a:xfrm>
          <a:prstGeom prst="rect">
            <a:avLst/>
          </a:prstGeom>
          <a:solidFill>
            <a:srgbClr val="2EA175"/>
          </a:solidFill>
          <a:ln w="10160">
            <a:solidFill>
              <a:srgbClr val="2EA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TextBox 15"/>
          <p:cNvSpPr txBox="1"/>
          <p:nvPr/>
        </p:nvSpPr>
        <p:spPr>
          <a:xfrm>
            <a:off x="7772400" y="1559297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15.9–84.2%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17586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utilization 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40864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Rectangle 18"/>
          <p:cNvSpPr/>
          <p:nvPr/>
        </p:nvSpPr>
        <p:spPr>
          <a:xfrm>
            <a:off x="7589520" y="2340864"/>
            <a:ext cx="64008" cy="841248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7772400" y="2546849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05138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warehouse sites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328416"/>
            <a:ext cx="395935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7589520" y="3328416"/>
            <a:ext cx="64008" cy="841248"/>
          </a:xfrm>
          <a:prstGeom prst="rect">
            <a:avLst/>
          </a:prstGeom>
          <a:solidFill>
            <a:srgbClr val="F0853D"/>
          </a:solidFill>
          <a:ln w="10160">
            <a:solidFill>
              <a:srgbClr val="F0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4" name="TextBox 23"/>
          <p:cNvSpPr txBox="1"/>
          <p:nvPr/>
        </p:nvSpPr>
        <p:spPr>
          <a:xfrm>
            <a:off x="7772400" y="3534401"/>
            <a:ext cx="3639312" cy="264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600" b="1" dirty="0">
                <a:solidFill>
                  <a:srgbClr val="13263F"/>
                </a:solidFill>
                <a:latin typeface="Aptos"/>
              </a:rPr>
              <a:t>5.8K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92690"/>
            <a:ext cx="36393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top shipped units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425696"/>
            <a:ext cx="3959352" cy="1426464"/>
          </a:xfrm>
          <a:prstGeom prst="roundRect">
            <a:avLst/>
          </a:prstGeom>
          <a:solidFill>
            <a:srgbClr val="EDF3F7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7863840" y="4536014"/>
            <a:ext cx="2794328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 dirty="0">
                <a:solidFill>
                  <a:srgbClr val="0CA0AE"/>
                </a:solidFill>
                <a:latin typeface="Aptos"/>
              </a:rPr>
              <a:t>WHAT THIS </a:t>
            </a:r>
            <a:r>
              <a:rPr lang="en-IN" sz="1400" b="1" dirty="0">
                <a:solidFill>
                  <a:srgbClr val="0CA0AE"/>
                </a:solidFill>
                <a:latin typeface="Aptos"/>
              </a:rPr>
              <a:t>REPORT</a:t>
            </a:r>
            <a:r>
              <a:rPr sz="1400" b="1" dirty="0">
                <a:solidFill>
                  <a:srgbClr val="0CA0AE"/>
                </a:solidFill>
                <a:latin typeface="Aptos"/>
              </a:rPr>
              <a:t>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0789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4886485"/>
            <a:ext cx="178308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Utilization by warehouse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90789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488648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Capacity vs 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18221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Units shipped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518221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1" y="516080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Sales contribution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456536"/>
            <a:ext cx="1371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00" b="1">
                <a:solidFill>
                  <a:srgbClr val="0CA0AE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5126"/>
            <a:ext cx="1627632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200" b="0" dirty="0">
                <a:solidFill>
                  <a:srgbClr val="23313F"/>
                </a:solidFill>
                <a:latin typeface="Aptos"/>
              </a:rPr>
              <a:t>Warehouse productivity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109240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-97554"/>
            <a:ext cx="356616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GLIMPSE OF DASHBOARD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928" y="60913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1018014"/>
            <a:ext cx="8092440" cy="53827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xecutiv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5" y="1304563"/>
            <a:ext cx="7334866" cy="436646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51392" y="1335712"/>
            <a:ext cx="2697480" cy="5074920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1" name="TextBox 30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11 / 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405" y="5932809"/>
            <a:ext cx="8092440" cy="2215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dirty="0">
                <a:solidFill>
                  <a:srgbClr val="19232D"/>
                </a:solidFill>
                <a:latin typeface="Aptos"/>
              </a:rPr>
              <a:t>EXECUTIVE SNAPSHOT  •  7,104 orders  •  10 warehouses  •  118 suppliers  •  45,605 dead-stock units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1572768"/>
            <a:ext cx="201168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dirty="0">
                <a:solidFill>
                  <a:srgbClr val="0FA5B4"/>
                </a:solidFill>
                <a:latin typeface="Aptos"/>
              </a:rPr>
              <a:t>INTERACTION LAYER</a:t>
            </a:r>
          </a:p>
        </p:txBody>
      </p:sp>
      <p:sp>
        <p:nvSpPr>
          <p:cNvPr id="41" name="Oval 40"/>
          <p:cNvSpPr/>
          <p:nvPr/>
        </p:nvSpPr>
        <p:spPr>
          <a:xfrm>
            <a:off x="9125712" y="1901952"/>
            <a:ext cx="310896" cy="310896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1892808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64624" y="2048256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Date • market • category</a:t>
            </a:r>
          </a:p>
        </p:txBody>
      </p:sp>
      <p:sp>
        <p:nvSpPr>
          <p:cNvPr id="44" name="Oval 43"/>
          <p:cNvSpPr/>
          <p:nvPr/>
        </p:nvSpPr>
        <p:spPr>
          <a:xfrm>
            <a:off x="9125712" y="2468880"/>
            <a:ext cx="310896" cy="310896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2459736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Cross-filter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4624" y="2615184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Select a visual to filter</a:t>
            </a:r>
          </a:p>
        </p:txBody>
      </p:sp>
      <p:sp>
        <p:nvSpPr>
          <p:cNvPr id="47" name="Oval 46"/>
          <p:cNvSpPr/>
          <p:nvPr/>
        </p:nvSpPr>
        <p:spPr>
          <a:xfrm>
            <a:off x="9125712" y="3035808"/>
            <a:ext cx="310896" cy="310896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3026664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Drill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3182112"/>
            <a:ext cx="1600200" cy="3570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Region → warehouse → order</a:t>
            </a:r>
          </a:p>
        </p:txBody>
      </p:sp>
      <p:sp>
        <p:nvSpPr>
          <p:cNvPr id="50" name="Oval 49"/>
          <p:cNvSpPr/>
          <p:nvPr/>
        </p:nvSpPr>
        <p:spPr>
          <a:xfrm>
            <a:off x="9125712" y="3602736"/>
            <a:ext cx="310896" cy="310896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64624" y="3593592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Navigate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64624" y="3749039"/>
            <a:ext cx="1600200" cy="3570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Open the detailed module</a:t>
            </a:r>
          </a:p>
        </p:txBody>
      </p:sp>
      <p:sp>
        <p:nvSpPr>
          <p:cNvPr id="53" name="Oval 52"/>
          <p:cNvSpPr/>
          <p:nvPr/>
        </p:nvSpPr>
        <p:spPr>
          <a:xfrm>
            <a:off x="9125712" y="4169663"/>
            <a:ext cx="310896" cy="310896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64624" y="4160520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4624" y="4315968"/>
            <a:ext cx="16002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ptos"/>
              </a:rPr>
              <a:t>Hover for KPI context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4773168"/>
            <a:ext cx="1828800" cy="18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100" b="1">
                <a:solidFill>
                  <a:srgbClr val="0FA5B4"/>
                </a:solidFill>
                <a:latin typeface="Aptos"/>
              </a:rPr>
              <a:t>DECISION LENS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76588" y="5472391"/>
            <a:ext cx="1847088" cy="480353"/>
          </a:xfrm>
          <a:prstGeom prst="roundRect">
            <a:avLst/>
          </a:prstGeom>
          <a:solidFill>
            <a:srgbClr val="DEEEF3"/>
          </a:solidFill>
          <a:ln>
            <a:solidFill>
              <a:srgbClr val="C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100" b="1" dirty="0">
                <a:solidFill>
                  <a:srgbClr val="142B46"/>
                </a:solidFill>
                <a:latin typeface="Aptos"/>
              </a:rPr>
              <a:t>MONITOR → DIAGNOSE
LOCATE → 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ounded Rectangle 103"/>
          <p:cNvSpPr/>
          <p:nvPr/>
        </p:nvSpPr>
        <p:spPr>
          <a:xfrm>
            <a:off x="9162288" y="1353312"/>
            <a:ext cx="2578608" cy="207568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3" name="Rounded Rectangle 102"/>
          <p:cNvSpPr/>
          <p:nvPr/>
        </p:nvSpPr>
        <p:spPr>
          <a:xfrm>
            <a:off x="6327648" y="1353312"/>
            <a:ext cx="2578608" cy="200715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2" name="Rounded Rectangle 101"/>
          <p:cNvSpPr/>
          <p:nvPr/>
        </p:nvSpPr>
        <p:spPr>
          <a:xfrm>
            <a:off x="3493008" y="1353312"/>
            <a:ext cx="2578608" cy="200715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101" name="Rounded Rectangle 100"/>
          <p:cNvSpPr/>
          <p:nvPr/>
        </p:nvSpPr>
        <p:spPr>
          <a:xfrm>
            <a:off x="594360" y="1353312"/>
            <a:ext cx="2642616" cy="200715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08660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flipV="1">
            <a:off x="-1" y="726210"/>
            <a:ext cx="12191695" cy="111892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-97554"/>
            <a:ext cx="283464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KEY INSIGHTS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643" y="9144"/>
            <a:ext cx="1143000" cy="69951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12 / 15</a:t>
            </a:r>
          </a:p>
        </p:txBody>
      </p:sp>
      <p:sp>
        <p:nvSpPr>
          <p:cNvPr id="66" name="Oval 65"/>
          <p:cNvSpPr/>
          <p:nvPr/>
        </p:nvSpPr>
        <p:spPr>
          <a:xfrm>
            <a:off x="749808" y="161848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1459206"/>
            <a:ext cx="1371600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lang="en-IN" sz="1400" b="1" dirty="0">
              <a:solidFill>
                <a:srgbClr val="142B46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42B46"/>
                </a:solidFill>
                <a:latin typeface="Aptos"/>
              </a:rPr>
              <a:t>76.7%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" y="1993392"/>
            <a:ext cx="214884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>
                <a:solidFill>
                  <a:srgbClr val="19232D"/>
                </a:solidFill>
                <a:latin typeface="Aptos"/>
              </a:rPr>
              <a:t>Slow-moving stock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" y="2267712"/>
            <a:ext cx="2148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0FA5B4"/>
                </a:solidFill>
                <a:latin typeface="Aptos"/>
              </a:rPr>
              <a:t>WORKING CAPITAL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2514600"/>
            <a:ext cx="2148840" cy="66479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Most inventory is slow-moving. Focus on ageing, rebalancing and clearance.</a:t>
            </a:r>
          </a:p>
        </p:txBody>
      </p:sp>
      <p:sp>
        <p:nvSpPr>
          <p:cNvPr id="71" name="Oval 70"/>
          <p:cNvSpPr/>
          <p:nvPr/>
        </p:nvSpPr>
        <p:spPr>
          <a:xfrm>
            <a:off x="3584448" y="161848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1436296"/>
            <a:ext cx="1548384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lang="en-IN" sz="1400" b="1" dirty="0">
              <a:solidFill>
                <a:srgbClr val="142B46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42B46"/>
                </a:solidFill>
                <a:latin typeface="Aptos"/>
              </a:rPr>
              <a:t>17.1%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1024" y="1993392"/>
            <a:ext cx="214884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>
                <a:solidFill>
                  <a:srgbClr val="19232D"/>
                </a:solidFill>
                <a:latin typeface="Aptos"/>
              </a:rPr>
              <a:t>On-time delivery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21024" y="2267712"/>
            <a:ext cx="2148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0FA5B4"/>
                </a:solidFill>
                <a:latin typeface="Aptos"/>
              </a:rPr>
              <a:t>SERVICE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21024" y="2514600"/>
            <a:ext cx="2148840" cy="66479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Service is weak. Isolate delay drivers by region, warehouse and mode.</a:t>
            </a:r>
          </a:p>
        </p:txBody>
      </p:sp>
      <p:sp>
        <p:nvSpPr>
          <p:cNvPr id="76" name="Oval 75"/>
          <p:cNvSpPr/>
          <p:nvPr/>
        </p:nvSpPr>
        <p:spPr>
          <a:xfrm>
            <a:off x="6419088" y="161848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1436296"/>
            <a:ext cx="1548384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lang="en-IN" sz="1400" b="1" dirty="0">
              <a:solidFill>
                <a:srgbClr val="142B46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42B46"/>
                </a:solidFill>
                <a:latin typeface="Aptos"/>
              </a:rPr>
              <a:t>53.9%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55664" y="1993392"/>
            <a:ext cx="214884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>
                <a:solidFill>
                  <a:srgbClr val="19232D"/>
                </a:solidFill>
                <a:latin typeface="Aptos"/>
              </a:rPr>
              <a:t>Supplier reliability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55664" y="2267712"/>
            <a:ext cx="2148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0FA5B4"/>
                </a:solidFill>
                <a:latin typeface="Aptos"/>
              </a:rPr>
              <a:t>SOURCING RISK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55664" y="2514600"/>
            <a:ext cx="2148840" cy="66479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Reliability is moderate. Compare quality score + lead time before switching.</a:t>
            </a:r>
          </a:p>
        </p:txBody>
      </p:sp>
      <p:sp>
        <p:nvSpPr>
          <p:cNvPr id="81" name="Oval 80"/>
          <p:cNvSpPr/>
          <p:nvPr/>
        </p:nvSpPr>
        <p:spPr>
          <a:xfrm>
            <a:off x="9253728" y="161848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84080" y="1436296"/>
            <a:ext cx="1554480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lang="en-IN" sz="1400" b="1" dirty="0">
              <a:solidFill>
                <a:srgbClr val="142B46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42B46"/>
                </a:solidFill>
                <a:latin typeface="Aptos"/>
              </a:rPr>
              <a:t>84.2%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90303" y="1993392"/>
            <a:ext cx="214884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>
                <a:solidFill>
                  <a:srgbClr val="19232D"/>
                </a:solidFill>
                <a:latin typeface="Aptos"/>
              </a:rPr>
              <a:t>Peak utilization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90303" y="2267712"/>
            <a:ext cx="214884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0FA5B4"/>
                </a:solidFill>
                <a:latin typeface="Aptos"/>
              </a:rPr>
              <a:t>CAPACITY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90303" y="2514600"/>
            <a:ext cx="2148840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Selected sites are near capacity. Rebalance volume before adding space.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3593592"/>
            <a:ext cx="29260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9232D"/>
                </a:solidFill>
                <a:latin typeface="Aptos"/>
              </a:rPr>
              <a:t>FROM SIGNAL → BUSINESS ACTION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" y="3959352"/>
            <a:ext cx="160020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400" b="1" dirty="0">
                <a:solidFill>
                  <a:srgbClr val="19232D"/>
                </a:solidFill>
                <a:latin typeface="Aptos"/>
              </a:rPr>
              <a:t>Inventory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8920" y="3959352"/>
            <a:ext cx="699516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Ageing → reduce dead stock → free working capital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4416552"/>
            <a:ext cx="160020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400" b="1" dirty="0">
                <a:solidFill>
                  <a:srgbClr val="19232D"/>
                </a:solidFill>
                <a:latin typeface="Aptos"/>
              </a:rPr>
              <a:t>Delivery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920" y="4416552"/>
            <a:ext cx="699516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Prioritize L8/L9 + high-delay regions → improve service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" y="4873752"/>
            <a:ext cx="160020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400" b="1" dirty="0">
                <a:solidFill>
                  <a:srgbClr val="19232D"/>
                </a:solidFill>
                <a:latin typeface="Aptos"/>
              </a:rPr>
              <a:t>Suppliers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8920" y="4873752"/>
            <a:ext cx="699516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Balance quality + reliability + lead time → reduce sourcing risk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" y="5330952"/>
            <a:ext cx="160020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sz="1400" b="1" dirty="0">
                <a:solidFill>
                  <a:srgbClr val="19232D"/>
                </a:solidFill>
                <a:latin typeface="Aptos"/>
              </a:rPr>
              <a:t>Warehouses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8920" y="5340784"/>
            <a:ext cx="699516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19232D"/>
                </a:solidFill>
                <a:latin typeface="Aptos"/>
              </a:rPr>
              <a:t>Compare utilization + throughput → rebalance capacity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06256" y="4092534"/>
            <a:ext cx="2432304" cy="2039256"/>
          </a:xfrm>
          <a:prstGeom prst="roundRect">
            <a:avLst/>
          </a:prstGeom>
          <a:solidFill>
            <a:srgbClr val="DEEEF3"/>
          </a:solidFill>
          <a:ln>
            <a:solidFill>
              <a:srgbClr val="C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600" b="1" dirty="0">
                <a:solidFill>
                  <a:srgbClr val="142B46"/>
                </a:solidFill>
                <a:latin typeface="Aptos"/>
              </a:rPr>
              <a:t>DECISION RULE
High impact
+
High urgency
=
First 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8368" y="5897880"/>
            <a:ext cx="886968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dirty="0">
                <a:solidFill>
                  <a:srgbClr val="556473"/>
                </a:solidFill>
                <a:latin typeface="Aptos"/>
              </a:rPr>
              <a:t>Takeaway: address inventory pressure + delivery risk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74"/>
          <p:cNvSpPr/>
          <p:nvPr/>
        </p:nvSpPr>
        <p:spPr>
          <a:xfrm>
            <a:off x="8321039" y="3456432"/>
            <a:ext cx="3300298" cy="1803826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4" name="Rounded Rectangle 73"/>
          <p:cNvSpPr/>
          <p:nvPr/>
        </p:nvSpPr>
        <p:spPr>
          <a:xfrm>
            <a:off x="4498848" y="3456432"/>
            <a:ext cx="3327728" cy="1803826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3" name="Rounded Rectangle 72"/>
          <p:cNvSpPr/>
          <p:nvPr/>
        </p:nvSpPr>
        <p:spPr>
          <a:xfrm>
            <a:off x="676656" y="3456432"/>
            <a:ext cx="3438144" cy="1803826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2" name="Rounded Rectangle 71"/>
          <p:cNvSpPr/>
          <p:nvPr/>
        </p:nvSpPr>
        <p:spPr>
          <a:xfrm>
            <a:off x="8293608" y="1275589"/>
            <a:ext cx="3327729" cy="161848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1" name="Rounded Rectangle 70"/>
          <p:cNvSpPr/>
          <p:nvPr/>
        </p:nvSpPr>
        <p:spPr>
          <a:xfrm>
            <a:off x="4498847" y="1240441"/>
            <a:ext cx="3327729" cy="1653635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70" name="Rounded Rectangle 69"/>
          <p:cNvSpPr/>
          <p:nvPr/>
        </p:nvSpPr>
        <p:spPr>
          <a:xfrm>
            <a:off x="676655" y="1240441"/>
            <a:ext cx="3438145" cy="1653635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" name="Rectangle 1"/>
          <p:cNvSpPr/>
          <p:nvPr/>
        </p:nvSpPr>
        <p:spPr>
          <a:xfrm>
            <a:off x="305" y="-12287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04471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-97553"/>
            <a:ext cx="2752344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CHALLENGES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615" y="28147"/>
            <a:ext cx="1143000" cy="69951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66928" y="5774436"/>
            <a:ext cx="10972800" cy="432054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13 / 15</a:t>
            </a:r>
          </a:p>
        </p:txBody>
      </p:sp>
      <p:sp>
        <p:nvSpPr>
          <p:cNvPr id="50" name="Oval 49"/>
          <p:cNvSpPr/>
          <p:nvPr/>
        </p:nvSpPr>
        <p:spPr>
          <a:xfrm>
            <a:off x="790514" y="1382170"/>
            <a:ext cx="365760" cy="347421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8020" y="1457744"/>
            <a:ext cx="2754802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Data Cleaning &amp; Transformation</a:t>
            </a:r>
            <a:endParaRPr lang="en-IN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1298448" y="1719108"/>
            <a:ext cx="2349320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400" dirty="0"/>
              <a:t>Raw supply-chain data required significant cleaning, column removal, renaming, and transformation before analysis.</a:t>
            </a:r>
            <a:endParaRPr sz="1400" b="0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4590288" y="1363831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1386745"/>
            <a:ext cx="2479694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Data Model &amp; Relationships</a:t>
            </a:r>
            <a:endParaRPr sz="1600" b="1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47488" y="1729592"/>
            <a:ext cx="2479694" cy="66479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400" dirty="0"/>
              <a:t>Handling duplicate </a:t>
            </a:r>
            <a:r>
              <a:rPr lang="en-IN" sz="1400" b="1" dirty="0"/>
              <a:t>Customer IDs</a:t>
            </a:r>
            <a:r>
              <a:rPr lang="en-IN" sz="1400" dirty="0"/>
              <a:t> created relationship issues while building the dimensional model.</a:t>
            </a:r>
            <a:endParaRPr sz="1400" b="0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8394782" y="1386745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1427893"/>
            <a:ext cx="2267712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Date &amp; Time Data Issues</a:t>
            </a:r>
            <a:endParaRPr lang="en-IN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8861716" y="1752506"/>
            <a:ext cx="2348828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400" dirty="0"/>
              <a:t>Order-date fields had formatting/type problems, which affected date slicers and time-based analysis.</a:t>
            </a:r>
            <a:endParaRPr sz="1400" b="0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68096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98448" y="3648456"/>
            <a:ext cx="224028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DAX Calculation Accuracy</a:t>
            </a:r>
            <a:endParaRPr lang="en-IN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1298448" y="3922776"/>
            <a:ext cx="2267712" cy="109568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400" dirty="0"/>
              <a:t>Measures such as </a:t>
            </a:r>
            <a:r>
              <a:rPr lang="en-IN" sz="1400" b="1" dirty="0"/>
              <a:t>Fulfillment Rate and Dead Stock Quantity</a:t>
            </a:r>
            <a:r>
              <a:rPr lang="en-IN" sz="1400" dirty="0"/>
              <a:t> required careful validation to ensure the results matched the expected values</a:t>
            </a:r>
            <a:endParaRPr sz="1400" b="0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590288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3648456"/>
            <a:ext cx="2240280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Inventory Classification</a:t>
            </a:r>
            <a:endParaRPr lang="en-IN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4988814" y="3922776"/>
            <a:ext cx="2399538" cy="1311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400" dirty="0"/>
              <a:t>Identifying </a:t>
            </a:r>
            <a:r>
              <a:rPr lang="en-IN" sz="1400" b="1" dirty="0"/>
              <a:t>slow-moving and dead stock</a:t>
            </a:r>
            <a:r>
              <a:rPr lang="en-IN" sz="1400" dirty="0"/>
              <a:t> accurately was challenging because the logic had to be based on inventory movement rather than simply displaying quantities</a:t>
            </a:r>
            <a:endParaRPr sz="1400" b="0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412480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2831" y="3648456"/>
            <a:ext cx="2916936" cy="42627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rPr lang="en-IN" sz="1600" b="1" dirty="0"/>
              <a:t>Dashboard Design &amp; Usability</a:t>
            </a:r>
            <a:endParaRPr lang="en-IN" sz="1600" dirty="0"/>
          </a:p>
          <a:p>
            <a:pPr algn="l"/>
            <a:endParaRPr sz="1050" b="1" dirty="0">
              <a:solidFill>
                <a:srgbClr val="19232D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93608" y="3922776"/>
            <a:ext cx="2916936" cy="1311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lvl="1"/>
            <a:r>
              <a:rPr lang="en-IN" sz="1400" dirty="0"/>
              <a:t>Combining inventory, delivery, supplier, transportation, and warehouse KPIs into an interactive dashboard while keeping it clear and readable was another challenge.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" y="5899509"/>
            <a:ext cx="104698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IN" sz="1400" dirty="0">
                <a:highlight>
                  <a:srgbClr val="C0C0C0"/>
                </a:highlight>
              </a:rPr>
              <a:t>Data Cleaning → Relationship Validation → DAX Testing → KPI Validation → Dashboard Refinement</a:t>
            </a:r>
            <a:endParaRPr sz="1400" b="1" dirty="0">
              <a:solidFill>
                <a:schemeClr val="bg1"/>
              </a:solidFill>
              <a:highlight>
                <a:srgbClr val="C0C0C0"/>
              </a:highlight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91"/>
          <p:cNvSpPr/>
          <p:nvPr/>
        </p:nvSpPr>
        <p:spPr>
          <a:xfrm>
            <a:off x="8321040" y="3456432"/>
            <a:ext cx="2993332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1" name="Rounded Rectangle 90"/>
          <p:cNvSpPr/>
          <p:nvPr/>
        </p:nvSpPr>
        <p:spPr>
          <a:xfrm>
            <a:off x="4498848" y="3456432"/>
            <a:ext cx="2993332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" name="Rounded Rectangle 89"/>
          <p:cNvSpPr/>
          <p:nvPr/>
        </p:nvSpPr>
        <p:spPr>
          <a:xfrm>
            <a:off x="676656" y="3456432"/>
            <a:ext cx="2862072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9" name="Rounded Rectangle 88"/>
          <p:cNvSpPr/>
          <p:nvPr/>
        </p:nvSpPr>
        <p:spPr>
          <a:xfrm>
            <a:off x="8321040" y="1463040"/>
            <a:ext cx="2993332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8" name="Rounded Rectangle 87"/>
          <p:cNvSpPr/>
          <p:nvPr/>
        </p:nvSpPr>
        <p:spPr>
          <a:xfrm>
            <a:off x="4498847" y="1463040"/>
            <a:ext cx="2993333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7" name="Rounded Rectangle 86"/>
          <p:cNvSpPr/>
          <p:nvPr/>
        </p:nvSpPr>
        <p:spPr>
          <a:xfrm>
            <a:off x="676655" y="1463040"/>
            <a:ext cx="2993331" cy="1481328"/>
          </a:xfrm>
          <a:prstGeom prst="roundRect">
            <a:avLst/>
          </a:prstGeom>
          <a:solidFill>
            <a:srgbClr val="FFFFFF"/>
          </a:solidFill>
          <a:ln w="10972"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91695" cy="97094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-97553"/>
            <a:ext cx="2752344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FUTURE SCOPE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9370"/>
            <a:ext cx="1143000" cy="69951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14 / 15</a:t>
            </a:r>
          </a:p>
        </p:txBody>
      </p:sp>
      <p:sp>
        <p:nvSpPr>
          <p:cNvPr id="60" name="Oval 59"/>
          <p:cNvSpPr/>
          <p:nvPr/>
        </p:nvSpPr>
        <p:spPr>
          <a:xfrm>
            <a:off x="768096" y="166420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1655064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AI demand forecasting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8448" y="1929384"/>
            <a:ext cx="226771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Predict demand using history, seasonality and market signals before replenishment decisions.</a:t>
            </a:r>
          </a:p>
        </p:txBody>
      </p:sp>
      <p:sp>
        <p:nvSpPr>
          <p:cNvPr id="63" name="Oval 62"/>
          <p:cNvSpPr/>
          <p:nvPr/>
        </p:nvSpPr>
        <p:spPr>
          <a:xfrm>
            <a:off x="4590288" y="166420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1655064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Predictive inventory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1929384"/>
            <a:ext cx="226771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Recommend reorder points, quantities and safety stock using demand variability and lead time.</a:t>
            </a:r>
          </a:p>
        </p:txBody>
      </p:sp>
      <p:sp>
        <p:nvSpPr>
          <p:cNvPr id="66" name="Oval 65"/>
          <p:cNvSpPr/>
          <p:nvPr/>
        </p:nvSpPr>
        <p:spPr>
          <a:xfrm>
            <a:off x="8412480" y="1664208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2832" y="1655064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Real-time IoT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1929384"/>
            <a:ext cx="244469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Bring live warehouse and logistics signals—capacity, movement and shipment status—into the decision layer.</a:t>
            </a:r>
          </a:p>
        </p:txBody>
      </p:sp>
      <p:sp>
        <p:nvSpPr>
          <p:cNvPr id="69" name="Oval 68"/>
          <p:cNvSpPr/>
          <p:nvPr/>
        </p:nvSpPr>
        <p:spPr>
          <a:xfrm>
            <a:off x="768096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98448" y="3648456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Automated alerts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98448" y="3922776"/>
            <a:ext cx="226771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Alert teams to late-delivery risk, dead stock, unusual utilization and supplier deterioration.</a:t>
            </a:r>
          </a:p>
        </p:txBody>
      </p:sp>
      <p:sp>
        <p:nvSpPr>
          <p:cNvPr id="72" name="Oval 71"/>
          <p:cNvSpPr/>
          <p:nvPr/>
        </p:nvSpPr>
        <p:spPr>
          <a:xfrm>
            <a:off x="4590288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20640" y="3648456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Supplier risk ML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0" y="3922776"/>
            <a:ext cx="226771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Predict quality or reliability deterioration from score, lead time and delivery behavior.</a:t>
            </a:r>
          </a:p>
        </p:txBody>
      </p:sp>
      <p:sp>
        <p:nvSpPr>
          <p:cNvPr id="75" name="Oval 74"/>
          <p:cNvSpPr/>
          <p:nvPr/>
        </p:nvSpPr>
        <p:spPr>
          <a:xfrm>
            <a:off x="8412480" y="3657600"/>
            <a:ext cx="365760" cy="365760"/>
          </a:xfrm>
          <a:prstGeom prst="ellipse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42832" y="3648456"/>
            <a:ext cx="22402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dirty="0">
                <a:solidFill>
                  <a:srgbClr val="19232D"/>
                </a:solidFill>
                <a:latin typeface="Aptos"/>
              </a:rPr>
              <a:t>Cloud deployment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2832" y="3922776"/>
            <a:ext cx="2267712" cy="88024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dirty="0">
                <a:solidFill>
                  <a:srgbClr val="19232D"/>
                </a:solidFill>
                <a:latin typeface="Aptos"/>
              </a:rPr>
              <a:t>Scale refresh, collaboration, governance and secure access with one KPI source of truth.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550468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19232D"/>
                </a:solidFill>
                <a:latin typeface="Aptos"/>
              </a:rPr>
              <a:t>ROADMAP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650492" y="5449824"/>
            <a:ext cx="1691640" cy="322080"/>
          </a:xfrm>
          <a:prstGeom prst="roundRect">
            <a:avLst/>
          </a:prstGeom>
          <a:solidFill>
            <a:srgbClr val="0FA5B4"/>
          </a:solidFill>
          <a:ln>
            <a:solidFill>
              <a:srgbClr val="0F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 dirty="0">
                <a:solidFill>
                  <a:srgbClr val="19232D"/>
                </a:solidFill>
                <a:latin typeface="Aptos"/>
              </a:rPr>
              <a:t>AUTOMATE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05072" y="5449824"/>
            <a:ext cx="1691640" cy="347472"/>
          </a:xfrm>
          <a:prstGeom prst="roundRect">
            <a:avLst/>
          </a:prstGeom>
          <a:solidFill>
            <a:srgbClr val="EC9641"/>
          </a:solidFill>
          <a:ln>
            <a:solidFill>
              <a:srgbClr val="EC9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19232D"/>
                </a:solidFill>
                <a:latin typeface="Aptos"/>
              </a:rPr>
              <a:t>PREDICT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55080" y="5449824"/>
            <a:ext cx="1691640" cy="347472"/>
          </a:xfrm>
          <a:prstGeom prst="roundRect">
            <a:avLst/>
          </a:prstGeom>
          <a:solidFill>
            <a:srgbClr val="705BB2"/>
          </a:solidFill>
          <a:ln>
            <a:solidFill>
              <a:srgbClr val="705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19232D"/>
                </a:solidFill>
                <a:latin typeface="Aptos"/>
              </a:rPr>
              <a:t>RECOMMEND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86800" y="5449824"/>
            <a:ext cx="1691640" cy="347472"/>
          </a:xfrm>
          <a:prstGeom prst="roundRect">
            <a:avLst/>
          </a:prstGeom>
          <a:solidFill>
            <a:srgbClr val="37A57D"/>
          </a:solidFill>
          <a:ln>
            <a:solidFill>
              <a:srgbClr val="37A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1200" b="1">
                <a:solidFill>
                  <a:srgbClr val="19232D"/>
                </a:solidFill>
                <a:latin typeface="Aptos"/>
              </a:rPr>
              <a:t>ACT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47288" y="5504688"/>
            <a:ext cx="365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142B46"/>
                </a:solidFill>
                <a:latin typeface="Aptos"/>
              </a:rP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79008" y="5504688"/>
            <a:ext cx="365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142B46"/>
                </a:solidFill>
                <a:latin typeface="Aptos"/>
              </a:rP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10727" y="5504688"/>
            <a:ext cx="3657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200" b="1">
                <a:solidFill>
                  <a:srgbClr val="142B46"/>
                </a:solidFill>
                <a:latin typeface="Aptos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4465" y="5943600"/>
            <a:ext cx="11608455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400" b="1" dirty="0">
                <a:solidFill>
                  <a:srgbClr val="556473"/>
                </a:solidFill>
                <a:latin typeface="Aptos"/>
              </a:rPr>
              <a:t>EXPECTED VALUE  •  earlier risk detection  •  lower excess inventory  •  better delivery  •  faster supplier decisions  •  smarter capacity allocation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5"/>
            <a:ext cx="12191695" cy="102009"/>
          </a:xfrm>
          <a:prstGeom prst="rect">
            <a:avLst/>
          </a:prstGeom>
          <a:solidFill>
            <a:srgbClr val="0CA0AE"/>
          </a:solidFill>
          <a:ln w="10160">
            <a:solidFill>
              <a:srgbClr val="0C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-97554"/>
            <a:ext cx="3703320" cy="6340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endParaRPr lang="en-US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TEAMMATES 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58944"/>
            <a:ext cx="1143000" cy="699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1481328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Oval 9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0CA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777240" y="1821573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647837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1">
                <a:solidFill>
                  <a:srgbClr val="13263F"/>
                </a:solidFill>
                <a:latin typeface="Aptos"/>
              </a:rPr>
              <a:t>Prudhvi Surla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935873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Inventory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81328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Oval 14"/>
          <p:cNvSpPr/>
          <p:nvPr/>
        </p:nvSpPr>
        <p:spPr>
          <a:xfrm>
            <a:off x="4480560" y="1709928"/>
            <a:ext cx="457200" cy="457200"/>
          </a:xfrm>
          <a:prstGeom prst="ellipse">
            <a:avLst/>
          </a:prstGeom>
          <a:solidFill>
            <a:srgbClr val="D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1573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Aptos"/>
              </a:rPr>
              <a:t>AK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2352" y="1647837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13263F"/>
                </a:solidFill>
                <a:latin typeface="Aptos"/>
              </a:rPr>
              <a:t>Abhay Kumar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02352" y="1935873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Delivery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70048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Oval 19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6F5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777240" y="3010293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Aptos"/>
              </a:rPr>
              <a:t>NY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99032" y="2836557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13263F"/>
                </a:solidFill>
                <a:latin typeface="Aptos"/>
              </a:rPr>
              <a:t>Nitish Kumar Yadav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99032" y="3124592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Supplier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670048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Oval 24"/>
          <p:cNvSpPr/>
          <p:nvPr/>
        </p:nvSpPr>
        <p:spPr>
          <a:xfrm>
            <a:off x="4480560" y="2898648"/>
            <a:ext cx="457200" cy="457200"/>
          </a:xfrm>
          <a:prstGeom prst="ellipse">
            <a:avLst/>
          </a:prstGeom>
          <a:solidFill>
            <a:srgbClr val="F0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4480560" y="3010293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Aptos"/>
              </a:rPr>
              <a:t>R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02352" y="2836557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13263F"/>
                </a:solidFill>
                <a:latin typeface="Aptos"/>
              </a:rPr>
              <a:t>Raghul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2352" y="3124592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>
                <a:solidFill>
                  <a:srgbClr val="607181"/>
                </a:solidFill>
                <a:latin typeface="Aptos"/>
              </a:rPr>
              <a:t>Transportation Analytics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" y="3867345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Oval 29"/>
          <p:cNvSpPr/>
          <p:nvPr/>
        </p:nvSpPr>
        <p:spPr>
          <a:xfrm>
            <a:off x="777240" y="4069729"/>
            <a:ext cx="457200" cy="457200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777240" y="4189951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Aptos"/>
              </a:rPr>
              <a:t>MS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99032" y="4072996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13263F"/>
                </a:solidFill>
                <a:latin typeface="Aptos"/>
              </a:rPr>
              <a:t>Mohinish Sai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99032" y="4342378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Warehouse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1481328"/>
            <a:ext cx="3364992" cy="4297680"/>
          </a:xfrm>
          <a:prstGeom prst="roundRect">
            <a:avLst/>
          </a:prstGeom>
          <a:solidFill>
            <a:srgbClr val="13263F"/>
          </a:solidFill>
          <a:ln w="10160">
            <a:solidFill>
              <a:srgbClr val="13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8503920" y="1927509"/>
            <a:ext cx="2697480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2696831"/>
            <a:ext cx="260604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41BECD"/>
                </a:solidFill>
                <a:latin typeface="Aptos"/>
              </a:rPr>
              <a:t>From raw supply-chain data
to actionable insight.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23960" y="3456432"/>
            <a:ext cx="2103120" cy="0"/>
          </a:xfrm>
          <a:prstGeom prst="line">
            <a:avLst/>
          </a:prstGeom>
          <a:ln w="19050">
            <a:solidFill>
              <a:srgbClr val="41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85632" y="3860685"/>
            <a:ext cx="2743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  DEMO  •  DISCUSSION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644503"/>
            <a:ext cx="260604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Supply Chain Visibility &amp; Optimization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163705"/>
            <a:ext cx="260604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41BECD"/>
                </a:solidFill>
                <a:latin typeface="Aptos"/>
              </a:rPr>
              <a:t>Infosys Springboard Project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285232"/>
            <a:ext cx="6903720" cy="512064"/>
          </a:xfrm>
          <a:prstGeom prst="roundRect">
            <a:avLst/>
          </a:prstGeom>
          <a:solidFill>
            <a:srgbClr val="DFF5F8"/>
          </a:solidFill>
          <a:ln w="10160">
            <a:solidFill>
              <a:srgbClr val="D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777240" y="5289155"/>
            <a:ext cx="653796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13263F"/>
                </a:solidFill>
                <a:latin typeface="Aptos"/>
              </a:rPr>
              <a:t>Project outcome → a single decision layer across inventory, delivery, suppliers, transport and warehouses.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26384"/>
            <a:ext cx="4023360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11018520" y="6534078"/>
            <a:ext cx="658368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1000" b="1" dirty="0">
                <a:solidFill>
                  <a:srgbClr val="607181"/>
                </a:solidFill>
                <a:latin typeface="Aptos"/>
              </a:rPr>
              <a:t>15 / 15</a:t>
            </a:r>
          </a:p>
        </p:txBody>
      </p:sp>
      <p:sp>
        <p:nvSpPr>
          <p:cNvPr id="6" name="Rounded Rectangle 28">
            <a:extLst>
              <a:ext uri="{FF2B5EF4-FFF2-40B4-BE49-F238E27FC236}">
                <a16:creationId xmlns:a16="http://schemas.microsoft.com/office/drawing/2014/main" id="{7785DFDE-973B-5347-0270-3AADC15A4364}"/>
              </a:ext>
            </a:extLst>
          </p:cNvPr>
          <p:cNvSpPr/>
          <p:nvPr/>
        </p:nvSpPr>
        <p:spPr>
          <a:xfrm>
            <a:off x="4297680" y="3858768"/>
            <a:ext cx="3401568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E57600D-EEB2-2C04-F0B9-3C48EA4E16AD}"/>
              </a:ext>
            </a:extLst>
          </p:cNvPr>
          <p:cNvSpPr/>
          <p:nvPr/>
        </p:nvSpPr>
        <p:spPr>
          <a:xfrm>
            <a:off x="4485133" y="4135624"/>
            <a:ext cx="457200" cy="457200"/>
          </a:xfrm>
          <a:prstGeom prst="ellipse">
            <a:avLst/>
          </a:prstGeom>
          <a:solidFill>
            <a:srgbClr val="2EA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976CBF-3564-9C80-AD19-04B539D82A93}"/>
              </a:ext>
            </a:extLst>
          </p:cNvPr>
          <p:cNvSpPr txBox="1"/>
          <p:nvPr/>
        </p:nvSpPr>
        <p:spPr>
          <a:xfrm>
            <a:off x="4485133" y="4247269"/>
            <a:ext cx="4572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Aptos"/>
              </a:rPr>
              <a:t>DM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6E8993-18E7-AABB-D418-9CEA31BF88B4}"/>
              </a:ext>
            </a:extLst>
          </p:cNvPr>
          <p:cNvSpPr txBox="1"/>
          <p:nvPr/>
        </p:nvSpPr>
        <p:spPr>
          <a:xfrm>
            <a:off x="4969764" y="4189951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lang="en-IN" sz="1400" b="1" dirty="0">
                <a:solidFill>
                  <a:srgbClr val="13263F"/>
                </a:solidFill>
                <a:latin typeface="Aptos"/>
              </a:rPr>
              <a:t>Devid Mahesh</a:t>
            </a:r>
            <a:endParaRPr sz="1400" b="1" dirty="0">
              <a:solidFill>
                <a:srgbClr val="13263F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FD60B-E56C-A8B0-0C2B-4C08FFDF3AF4}"/>
              </a:ext>
            </a:extLst>
          </p:cNvPr>
          <p:cNvSpPr txBox="1"/>
          <p:nvPr/>
        </p:nvSpPr>
        <p:spPr>
          <a:xfrm>
            <a:off x="4978908" y="4423861"/>
            <a:ext cx="2267712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00" b="0" dirty="0">
                <a:solidFill>
                  <a:srgbClr val="607181"/>
                </a:solidFill>
                <a:latin typeface="Aptos"/>
              </a:rPr>
              <a:t>Warehouse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1588</Words>
  <Application>Microsoft Office PowerPoint</Application>
  <PresentationFormat>Widescreen</PresentationFormat>
  <Paragraphs>432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Visibility &amp; Optimization — Infosys Springboard</dc:title>
  <dc:subject>Redesigned 15-slide Power BI presentation</dc:subject>
  <dc:creator>Project Team</dc:creator>
  <cp:keywords>Supply Chain, Power BI, DataCo, Inventory, Delivery, Supplier, Transportation, Warehouse</cp:keywords>
  <dc:description>generated using python-pptx</dc:description>
  <cp:lastModifiedBy>prudhvi surla</cp:lastModifiedBy>
  <cp:revision>18</cp:revision>
  <dcterms:created xsi:type="dcterms:W3CDTF">2013-01-27T09:14:16Z</dcterms:created>
  <dcterms:modified xsi:type="dcterms:W3CDTF">2026-09-17T05:39:54Z</dcterms:modified>
  <cp:category/>
</cp:coreProperties>
</file>